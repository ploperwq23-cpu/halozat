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8" r:id="rId3"/>
    <p:sldId id="270" r:id="rId4"/>
    <p:sldId id="280" r:id="rId5"/>
    <p:sldId id="279" r:id="rId6"/>
    <p:sldId id="271" r:id="rId7"/>
    <p:sldId id="272" r:id="rId8"/>
    <p:sldId id="274" r:id="rId9"/>
    <p:sldId id="273" r:id="rId10"/>
    <p:sldId id="281" r:id="rId11"/>
    <p:sldId id="275" r:id="rId12"/>
    <p:sldId id="276" r:id="rId13"/>
    <p:sldId id="282" r:id="rId14"/>
    <p:sldId id="289" r:id="rId15"/>
    <p:sldId id="300" r:id="rId16"/>
    <p:sldId id="277" r:id="rId17"/>
    <p:sldId id="278" r:id="rId18"/>
    <p:sldId id="283" r:id="rId19"/>
    <p:sldId id="284" r:id="rId20"/>
    <p:sldId id="285" r:id="rId21"/>
    <p:sldId id="290" r:id="rId22"/>
    <p:sldId id="291" r:id="rId23"/>
    <p:sldId id="292" r:id="rId24"/>
    <p:sldId id="305" r:id="rId25"/>
    <p:sldId id="293" r:id="rId26"/>
    <p:sldId id="287" r:id="rId27"/>
    <p:sldId id="288" r:id="rId28"/>
    <p:sldId id="294" r:id="rId29"/>
    <p:sldId id="299" r:id="rId30"/>
    <p:sldId id="295" r:id="rId31"/>
    <p:sldId id="296" r:id="rId32"/>
    <p:sldId id="302" r:id="rId33"/>
    <p:sldId id="303" r:id="rId34"/>
    <p:sldId id="304" r:id="rId35"/>
    <p:sldId id="297" r:id="rId36"/>
    <p:sldId id="298" r:id="rId37"/>
    <p:sldId id="26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9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0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95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43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80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4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086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88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9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19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05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4895-52EC-4685-AB85-42759ADE69F3}" type="datetimeFigureOut">
              <a:rPr lang="hu-HU" smtClean="0"/>
              <a:t>2021. 03. 24.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C641917-7312-4256-8002-6CBB77698199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29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4BA1C258-668C-400C-BA8B-4426767B92D1}"/>
              </a:ext>
            </a:extLst>
          </p:cNvPr>
          <p:cNvSpPr txBox="1"/>
          <p:nvPr/>
        </p:nvSpPr>
        <p:spPr>
          <a:xfrm>
            <a:off x="1828800" y="387350"/>
            <a:ext cx="818896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 err="1"/>
              <a:t>BSc</a:t>
            </a:r>
            <a:r>
              <a:rPr lang="hu-HU" sz="3600" dirty="0"/>
              <a:t> első évfolyam</a:t>
            </a:r>
          </a:p>
          <a:p>
            <a:pPr algn="ctr"/>
            <a:r>
              <a:rPr lang="hu-HU" sz="3600" dirty="0"/>
              <a:t>Számítógép és hálózati architektúrák</a:t>
            </a:r>
          </a:p>
          <a:p>
            <a:pPr algn="ctr"/>
            <a:r>
              <a:rPr lang="hu-HU" b="1" dirty="0"/>
              <a:t>DUEL-ISR-118</a:t>
            </a:r>
          </a:p>
          <a:p>
            <a:pPr algn="ctr"/>
            <a:endParaRPr lang="hu-HU" sz="3600" dirty="0"/>
          </a:p>
          <a:p>
            <a:pPr algn="ctr"/>
            <a:endParaRPr lang="hu-HU" sz="3600" dirty="0"/>
          </a:p>
          <a:p>
            <a:pPr algn="ctr"/>
            <a:r>
              <a:rPr lang="hu-HU" sz="4400" dirty="0"/>
              <a:t>Téma: Alhálózat számítási feladatok</a:t>
            </a:r>
          </a:p>
          <a:p>
            <a:pPr algn="ctr"/>
            <a:endParaRPr lang="hu-HU" sz="4400" dirty="0"/>
          </a:p>
          <a:p>
            <a:pPr algn="ctr"/>
            <a:endParaRPr lang="hu-HU" sz="4400" dirty="0"/>
          </a:p>
          <a:p>
            <a:pPr algn="r"/>
            <a:r>
              <a:rPr lang="hu-HU" sz="3200" dirty="0"/>
              <a:t>Készítette: Farkas Imre</a:t>
            </a:r>
          </a:p>
          <a:p>
            <a:pPr algn="r"/>
            <a:r>
              <a:rPr lang="hu-HU" sz="3200" dirty="0"/>
              <a:t>Előszállás, 2021.03.27.</a:t>
            </a:r>
          </a:p>
        </p:txBody>
      </p:sp>
    </p:spTree>
    <p:extLst>
      <p:ext uri="{BB962C8B-B14F-4D97-AF65-F5344CB8AC3E}">
        <p14:creationId xmlns:p14="http://schemas.microsoft.com/office/powerpoint/2010/main" val="150913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BC3AB8-1074-4482-A71C-7606F10F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907" y="629412"/>
            <a:ext cx="4212933" cy="1189228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hu-HU" dirty="0"/>
              <a:t>Az </a:t>
            </a:r>
            <a:r>
              <a:rPr lang="hu-HU" dirty="0" err="1"/>
              <a:t>Ip</a:t>
            </a:r>
            <a:r>
              <a:rPr lang="hu-HU" dirty="0"/>
              <a:t> cím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CCA3E72-A3E9-4EB4-B579-31B8122C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93" y="2718423"/>
            <a:ext cx="6682164" cy="2816238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65CAF13-B1D9-4229-A605-FD9AE770986F}"/>
              </a:ext>
            </a:extLst>
          </p:cNvPr>
          <p:cNvSpPr txBox="1"/>
          <p:nvPr/>
        </p:nvSpPr>
        <p:spPr>
          <a:xfrm>
            <a:off x="5636594" y="5090160"/>
            <a:ext cx="86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FF0000"/>
                </a:solidFill>
              </a:rPr>
              <a:t>IPv4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5D345D0-C17E-42C1-AB79-1AA70BBCF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588" y="2718422"/>
            <a:ext cx="5082364" cy="281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8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BC3AB8-1074-4482-A71C-7606F10F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Az ip cím felépítése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9615C39-E50A-4764-BA03-8531F62D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1557237"/>
            <a:ext cx="6282919" cy="298438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48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6034E27-0BAA-4718-8FDF-D80AD994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IPv4 címek felépítése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3DB8606-281E-46D3-897F-B56BE1D2C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1258799"/>
            <a:ext cx="6282919" cy="358126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90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00F8561-1610-4CB7-BE7C-4FA506CE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IPv4 címzési rendszer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F0E2A7E-2542-427D-81FD-B054F1072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2044164"/>
            <a:ext cx="6282919" cy="20105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57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IPv4 osztályok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2809B2D-4365-4D82-B660-184F23D36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1612214"/>
            <a:ext cx="6282919" cy="28744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47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IPv4 osztályok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1B54BBB-7EDF-41BB-9222-8256C8A40848}"/>
              </a:ext>
            </a:extLst>
          </p:cNvPr>
          <p:cNvSpPr txBox="1"/>
          <p:nvPr/>
        </p:nvSpPr>
        <p:spPr>
          <a:xfrm>
            <a:off x="659302" y="3531204"/>
            <a:ext cx="2823919" cy="1610643"/>
          </a:xfrm>
          <a:prstGeom prst="rect">
            <a:avLst/>
          </a:prstGeom>
        </p:spPr>
        <p:txBody>
          <a:bodyPr vert="horz" lIns="91440" tIns="91440" rIns="91440" bIns="91440" rtlCol="0">
            <a:normAutofit lnSpcReduction="10000"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1600" cap="all" dirty="0"/>
              <a:t>A CIDR </a:t>
            </a:r>
            <a:r>
              <a:rPr lang="en-US" sz="1600" cap="all" dirty="0" err="1"/>
              <a:t>megadja</a:t>
            </a:r>
            <a:r>
              <a:rPr lang="en-US" sz="1600" cap="all" dirty="0"/>
              <a:t>, </a:t>
            </a:r>
            <a:r>
              <a:rPr lang="en-US" sz="1600" cap="all" dirty="0" err="1"/>
              <a:t>hogy</a:t>
            </a:r>
            <a:r>
              <a:rPr lang="en-US" sz="1600" cap="all" dirty="0"/>
              <a:t> a 32 </a:t>
            </a:r>
            <a:r>
              <a:rPr lang="en-US" sz="1600" cap="all" dirty="0" err="1"/>
              <a:t>bitből</a:t>
            </a:r>
            <a:r>
              <a:rPr lang="en-US" sz="1600" cap="all" dirty="0"/>
              <a:t> </a:t>
            </a:r>
            <a:r>
              <a:rPr lang="en-US" sz="1600" cap="all" dirty="0" err="1"/>
              <a:t>hány</a:t>
            </a:r>
            <a:r>
              <a:rPr lang="en-US" sz="1600" cap="all" dirty="0"/>
              <a:t> </a:t>
            </a:r>
            <a:r>
              <a:rPr lang="en-US" sz="1600" cap="all" dirty="0" err="1"/>
              <a:t>egyes</a:t>
            </a:r>
            <a:r>
              <a:rPr lang="en-US" sz="1600" cap="all" dirty="0"/>
              <a:t> van</a:t>
            </a:r>
            <a:r>
              <a:rPr lang="hu-HU" sz="1600" cap="all" dirty="0"/>
              <a:t> a maszkban</a:t>
            </a:r>
            <a:r>
              <a:rPr lang="en-US" sz="1600" cap="all" dirty="0"/>
              <a:t> </a:t>
            </a:r>
            <a:r>
              <a:rPr lang="en-US" sz="1600" cap="all" dirty="0" err="1"/>
              <a:t>balról</a:t>
            </a:r>
            <a:r>
              <a:rPr lang="en-US" sz="1600" cap="all" dirty="0"/>
              <a:t> </a:t>
            </a:r>
            <a:r>
              <a:rPr lang="en-US" sz="1600" cap="all" dirty="0" err="1"/>
              <a:t>jobbra</a:t>
            </a:r>
            <a:r>
              <a:rPr lang="en-US" sz="1600" cap="all" dirty="0"/>
              <a:t> (</a:t>
            </a:r>
            <a:r>
              <a:rPr lang="en-US" sz="1600" cap="all" dirty="0" err="1"/>
              <a:t>hány</a:t>
            </a:r>
            <a:r>
              <a:rPr lang="en-US" sz="1600" cap="all" dirty="0"/>
              <a:t> bit </a:t>
            </a:r>
            <a:r>
              <a:rPr lang="en-US" sz="1600" cap="all" dirty="0" err="1"/>
              <a:t>jelöli</a:t>
            </a:r>
            <a:r>
              <a:rPr lang="en-US" sz="1600" cap="all" dirty="0"/>
              <a:t> a </a:t>
            </a:r>
            <a:r>
              <a:rPr lang="en-US" sz="1600" cap="all" dirty="0" err="1"/>
              <a:t>hálózatot</a:t>
            </a:r>
            <a:r>
              <a:rPr lang="en-US" sz="1600" cap="all" dirty="0"/>
              <a:t>).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C5DD3E2-FDEC-4D43-B364-C58978D4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74" y="1510116"/>
            <a:ext cx="6282919" cy="30786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5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Alhálózati maszk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1F0B655-632F-4428-808B-10F39BB6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" y="2292858"/>
            <a:ext cx="6909999" cy="3841240"/>
          </a:xfrm>
          <a:prstGeom prst="rect">
            <a:avLst/>
          </a:prstGeom>
        </p:spPr>
      </p:pic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770B818-6DB8-45FB-A8DE-5004116DE064}"/>
              </a:ext>
            </a:extLst>
          </p:cNvPr>
          <p:cNvCxnSpPr/>
          <p:nvPr/>
        </p:nvCxnSpPr>
        <p:spPr>
          <a:xfrm>
            <a:off x="1114425" y="3000375"/>
            <a:ext cx="2438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591B3C02-5F18-43F3-9484-E892BEB1F742}"/>
              </a:ext>
            </a:extLst>
          </p:cNvPr>
          <p:cNvCxnSpPr>
            <a:cxnSpLocks/>
          </p:cNvCxnSpPr>
          <p:nvPr/>
        </p:nvCxnSpPr>
        <p:spPr>
          <a:xfrm>
            <a:off x="3905250" y="3000375"/>
            <a:ext cx="17907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611C7CBC-1175-4A81-80A9-2027C48EB3F8}"/>
              </a:ext>
            </a:extLst>
          </p:cNvPr>
          <p:cNvCxnSpPr>
            <a:cxnSpLocks/>
          </p:cNvCxnSpPr>
          <p:nvPr/>
        </p:nvCxnSpPr>
        <p:spPr>
          <a:xfrm>
            <a:off x="5853676" y="5724525"/>
            <a:ext cx="1828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6D921B97-00BD-44C3-B5E3-49B4A9263CD9}"/>
              </a:ext>
            </a:extLst>
          </p:cNvPr>
          <p:cNvSpPr txBox="1"/>
          <p:nvPr/>
        </p:nvSpPr>
        <p:spPr>
          <a:xfrm>
            <a:off x="7676196" y="5326621"/>
            <a:ext cx="4515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(Alhálózat címe, IP tartomány első cím)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D45D45A7-FEAD-457A-A92E-57F1AA7ABFF2}"/>
              </a:ext>
            </a:extLst>
          </p:cNvPr>
          <p:cNvSpPr txBox="1"/>
          <p:nvPr/>
        </p:nvSpPr>
        <p:spPr>
          <a:xfrm>
            <a:off x="7650574" y="5727736"/>
            <a:ext cx="46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0000"/>
                </a:solidFill>
              </a:rPr>
              <a:t>(Szórási címe, IP tartomány utolsó cím)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177A43CD-24A8-4804-ADD5-C93E06C26396}"/>
              </a:ext>
            </a:extLst>
          </p:cNvPr>
          <p:cNvCxnSpPr>
            <a:cxnSpLocks/>
          </p:cNvCxnSpPr>
          <p:nvPr/>
        </p:nvCxnSpPr>
        <p:spPr>
          <a:xfrm>
            <a:off x="5853676" y="6019800"/>
            <a:ext cx="1828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D0C6587E-A05C-4197-8520-1C5FEFE2DE8C}"/>
              </a:ext>
            </a:extLst>
          </p:cNvPr>
          <p:cNvSpPr txBox="1"/>
          <p:nvPr/>
        </p:nvSpPr>
        <p:spPr>
          <a:xfrm>
            <a:off x="7676196" y="4019550"/>
            <a:ext cx="4434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0070C0"/>
                </a:solidFill>
              </a:rPr>
              <a:t>CIDR=27</a:t>
            </a:r>
          </a:p>
          <a:p>
            <a:r>
              <a:rPr lang="hu-HU" b="1" dirty="0">
                <a:solidFill>
                  <a:srgbClr val="0070C0"/>
                </a:solidFill>
              </a:rPr>
              <a:t>11111111.111111111.1111111.11100000</a:t>
            </a:r>
          </a:p>
          <a:p>
            <a:r>
              <a:rPr lang="hu-HU" b="1" dirty="0">
                <a:solidFill>
                  <a:srgbClr val="0070C0"/>
                </a:solidFill>
              </a:rPr>
              <a:t>255.255.255.224</a:t>
            </a:r>
          </a:p>
        </p:txBody>
      </p:sp>
    </p:spTree>
    <p:extLst>
      <p:ext uri="{BB962C8B-B14F-4D97-AF65-F5344CB8AC3E}">
        <p14:creationId xmlns:p14="http://schemas.microsoft.com/office/powerpoint/2010/main" val="11923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Címzési módok IPv4 esetén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ED3005F-F5FF-4408-8721-54AC4B308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72" y="1116345"/>
            <a:ext cx="5970923" cy="38661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9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B6DBA19F-A28B-4D3B-8699-054FD6633E27}"/>
              </a:ext>
            </a:extLst>
          </p:cNvPr>
          <p:cNvSpPr/>
          <p:nvPr/>
        </p:nvSpPr>
        <p:spPr>
          <a:xfrm>
            <a:off x="2105024" y="4724510"/>
            <a:ext cx="56387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4000" dirty="0"/>
              <a:t>128 64 32 16  8   4   2   1 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93D428-4882-42D4-A2D5-16B91039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363" y="1065551"/>
            <a:ext cx="7729728" cy="568480"/>
          </a:xfrm>
        </p:spPr>
        <p:txBody>
          <a:bodyPr/>
          <a:lstStyle/>
          <a:p>
            <a:r>
              <a:rPr lang="hu-HU" dirty="0"/>
              <a:t>Számok 8 biten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10D392-8742-441B-8124-BD522AF60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550" y="2685739"/>
            <a:ext cx="9179814" cy="14386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sz="4000" dirty="0"/>
              <a:t>8 bit:</a:t>
            </a:r>
          </a:p>
          <a:p>
            <a:pPr marL="0" indent="0">
              <a:buNone/>
            </a:pPr>
            <a:r>
              <a:rPr lang="hu-HU" sz="4000" dirty="0"/>
              <a:t>      128 64 32  16  8   4    2    1 </a:t>
            </a:r>
          </a:p>
          <a:p>
            <a:pPr marL="0" indent="0">
              <a:buNone/>
            </a:pPr>
            <a:endParaRPr lang="hu-HU" sz="4000" dirty="0"/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3253188D-FF81-41E2-A40F-5CD87A8E8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582837"/>
              </p:ext>
            </p:extLst>
          </p:nvPr>
        </p:nvGraphicFramePr>
        <p:xfrm>
          <a:off x="2105025" y="4190494"/>
          <a:ext cx="563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775">
                  <a:extLst>
                    <a:ext uri="{9D8B030D-6E8A-4147-A177-3AD203B41FA5}">
                      <a16:colId xmlns:a16="http://schemas.microsoft.com/office/drawing/2014/main" val="18718806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555977927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43061012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97262497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0701227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97014329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206934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02510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379930"/>
                  </a:ext>
                </a:extLst>
              </a:tr>
            </a:tbl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E01151B5-DCC0-4653-BF9D-4051525A4640}"/>
              </a:ext>
            </a:extLst>
          </p:cNvPr>
          <p:cNvSpPr txBox="1"/>
          <p:nvPr/>
        </p:nvSpPr>
        <p:spPr>
          <a:xfrm>
            <a:off x="1352550" y="4800600"/>
            <a:ext cx="2419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Pl.:</a:t>
            </a:r>
          </a:p>
        </p:txBody>
      </p:sp>
      <p:graphicFrame>
        <p:nvGraphicFramePr>
          <p:cNvPr id="7" name="Táblázat 4">
            <a:extLst>
              <a:ext uri="{FF2B5EF4-FFF2-40B4-BE49-F238E27FC236}">
                <a16:creationId xmlns:a16="http://schemas.microsoft.com/office/drawing/2014/main" id="{50B8A6D5-F6EF-423C-9B76-2017AD8E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295293"/>
              </p:ext>
            </p:extLst>
          </p:nvPr>
        </p:nvGraphicFramePr>
        <p:xfrm>
          <a:off x="2105025" y="5563086"/>
          <a:ext cx="563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775">
                  <a:extLst>
                    <a:ext uri="{9D8B030D-6E8A-4147-A177-3AD203B41FA5}">
                      <a16:colId xmlns:a16="http://schemas.microsoft.com/office/drawing/2014/main" val="18718806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555977927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143061012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97262497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0701227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97014329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206934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02510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379930"/>
                  </a:ext>
                </a:extLst>
              </a:tr>
            </a:tbl>
          </a:graphicData>
        </a:graphic>
      </p:graphicFrame>
      <p:sp>
        <p:nvSpPr>
          <p:cNvPr id="8" name="Téglalap 7">
            <a:extLst>
              <a:ext uri="{FF2B5EF4-FFF2-40B4-BE49-F238E27FC236}">
                <a16:creationId xmlns:a16="http://schemas.microsoft.com/office/drawing/2014/main" id="{3D9B00A5-4C6F-4D3D-9578-4B8AE866D611}"/>
              </a:ext>
            </a:extLst>
          </p:cNvPr>
          <p:cNvSpPr/>
          <p:nvPr/>
        </p:nvSpPr>
        <p:spPr>
          <a:xfrm>
            <a:off x="2105025" y="4735567"/>
            <a:ext cx="56387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4000" dirty="0">
                <a:solidFill>
                  <a:srgbClr val="FF0000"/>
                </a:solidFill>
              </a:rPr>
              <a:t>128</a:t>
            </a:r>
            <a:r>
              <a:rPr lang="hu-HU" sz="4000" dirty="0"/>
              <a:t> 64 32 </a:t>
            </a:r>
            <a:r>
              <a:rPr lang="hu-HU" sz="4000" dirty="0">
                <a:solidFill>
                  <a:srgbClr val="FF0000"/>
                </a:solidFill>
              </a:rPr>
              <a:t>16</a:t>
            </a:r>
            <a:r>
              <a:rPr lang="hu-HU" sz="4000" dirty="0"/>
              <a:t>  </a:t>
            </a:r>
            <a:r>
              <a:rPr lang="hu-HU" sz="4000" dirty="0">
                <a:solidFill>
                  <a:srgbClr val="FF0000"/>
                </a:solidFill>
              </a:rPr>
              <a:t>8</a:t>
            </a:r>
            <a:r>
              <a:rPr lang="hu-HU" sz="4000" dirty="0"/>
              <a:t>   4   2   </a:t>
            </a:r>
            <a:r>
              <a:rPr lang="hu-HU" sz="4000" dirty="0">
                <a:solidFill>
                  <a:srgbClr val="FF0000"/>
                </a:solidFill>
              </a:rPr>
              <a:t>1</a:t>
            </a:r>
            <a:r>
              <a:rPr lang="hu-HU" sz="4000" dirty="0"/>
              <a:t> 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EFA91A8-3337-4E78-8267-8C358D5B532F}"/>
              </a:ext>
            </a:extLst>
          </p:cNvPr>
          <p:cNvSpPr txBox="1"/>
          <p:nvPr/>
        </p:nvSpPr>
        <p:spPr>
          <a:xfrm>
            <a:off x="7869935" y="4191248"/>
            <a:ext cx="207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0-tól 255-ig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1080CF8-44A5-4E0D-9A02-CBC47215A06C}"/>
              </a:ext>
            </a:extLst>
          </p:cNvPr>
          <p:cNvSpPr txBox="1"/>
          <p:nvPr/>
        </p:nvSpPr>
        <p:spPr>
          <a:xfrm>
            <a:off x="7743823" y="5564594"/>
            <a:ext cx="2495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 128+16+8+1=153</a:t>
            </a:r>
          </a:p>
        </p:txBody>
      </p:sp>
    </p:spTree>
    <p:extLst>
      <p:ext uri="{BB962C8B-B14F-4D97-AF65-F5344CB8AC3E}">
        <p14:creationId xmlns:p14="http://schemas.microsoft.com/office/powerpoint/2010/main" val="138267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8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108" y="1034273"/>
            <a:ext cx="7729728" cy="571155"/>
          </a:xfrm>
        </p:spPr>
        <p:txBody>
          <a:bodyPr/>
          <a:lstStyle/>
          <a:p>
            <a:r>
              <a:rPr lang="hu-HU" dirty="0"/>
              <a:t>Alhálózat számítási példa 1.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285DD4A-50F5-4805-87D5-AB2C7A75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2" y="2783622"/>
            <a:ext cx="4505325" cy="53340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06CC40B1-13C4-4453-A3BB-B1C8E3DE999C}"/>
              </a:ext>
            </a:extLst>
          </p:cNvPr>
          <p:cNvSpPr txBox="1"/>
          <p:nvPr/>
        </p:nvSpPr>
        <p:spPr>
          <a:xfrm>
            <a:off x="628650" y="1952625"/>
            <a:ext cx="7729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Adott az alábbi IP cím maszkkal együtt. Határozzuk meg a címhez tartozó alhálózat címet.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BD6692B-C54E-4303-A1EC-56768DB68FAA}"/>
              </a:ext>
            </a:extLst>
          </p:cNvPr>
          <p:cNvSpPr txBox="1"/>
          <p:nvPr/>
        </p:nvSpPr>
        <p:spPr>
          <a:xfrm>
            <a:off x="857250" y="36195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cím:      11000000. 10101000. 00000010. 01010100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173006B-CF91-4C93-B0C3-EE0EDBACD1BB}"/>
              </a:ext>
            </a:extLst>
          </p:cNvPr>
          <p:cNvSpPr txBox="1"/>
          <p:nvPr/>
        </p:nvSpPr>
        <p:spPr>
          <a:xfrm>
            <a:off x="2630508" y="453532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CE462AD-B0B3-4585-8155-A309117A43E3}"/>
              </a:ext>
            </a:extLst>
          </p:cNvPr>
          <p:cNvSpPr txBox="1"/>
          <p:nvPr/>
        </p:nvSpPr>
        <p:spPr>
          <a:xfrm>
            <a:off x="4336350" y="453532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128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17D7A86-A7AC-425D-80C0-A5862F43E23D}"/>
              </a:ext>
            </a:extLst>
          </p:cNvPr>
          <p:cNvSpPr txBox="1"/>
          <p:nvPr/>
        </p:nvSpPr>
        <p:spPr>
          <a:xfrm>
            <a:off x="3182897" y="453532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64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7D651BDE-40A1-432C-9E8A-0AFD91DC44F8}"/>
              </a:ext>
            </a:extLst>
          </p:cNvPr>
          <p:cNvSpPr txBox="1"/>
          <p:nvPr/>
        </p:nvSpPr>
        <p:spPr>
          <a:xfrm>
            <a:off x="5049797" y="453532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32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D2F0E45-C59B-4D85-85E6-ACB7BDD43773}"/>
              </a:ext>
            </a:extLst>
          </p:cNvPr>
          <p:cNvSpPr txBox="1"/>
          <p:nvPr/>
        </p:nvSpPr>
        <p:spPr>
          <a:xfrm>
            <a:off x="5496577" y="453532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8D8DEDE-A605-4199-AF91-F6F59072CD47}"/>
              </a:ext>
            </a:extLst>
          </p:cNvPr>
          <p:cNvSpPr txBox="1"/>
          <p:nvPr/>
        </p:nvSpPr>
        <p:spPr>
          <a:xfrm>
            <a:off x="7405687" y="455593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15039EE4-4E93-43B7-99A5-CE1F2A291387}"/>
              </a:ext>
            </a:extLst>
          </p:cNvPr>
          <p:cNvSpPr txBox="1"/>
          <p:nvPr/>
        </p:nvSpPr>
        <p:spPr>
          <a:xfrm>
            <a:off x="8119134" y="4576416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64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333C80D-4217-44D6-B168-292FE473DC71}"/>
              </a:ext>
            </a:extLst>
          </p:cNvPr>
          <p:cNvSpPr txBox="1"/>
          <p:nvPr/>
        </p:nvSpPr>
        <p:spPr>
          <a:xfrm>
            <a:off x="8634412" y="4576416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750FD2F1-12E1-4C72-93D9-914AFB00A754}"/>
              </a:ext>
            </a:extLst>
          </p:cNvPr>
          <p:cNvSpPr txBox="1"/>
          <p:nvPr/>
        </p:nvSpPr>
        <p:spPr>
          <a:xfrm>
            <a:off x="9156652" y="4576548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1DDD5520-D70A-4225-B560-820105F4CE56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2809875" y="4155603"/>
            <a:ext cx="139721" cy="37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CA004E1E-EB7D-4ECD-8253-EE5EC892BDDD}"/>
              </a:ext>
            </a:extLst>
          </p:cNvPr>
          <p:cNvCxnSpPr>
            <a:cxnSpLocks/>
          </p:cNvCxnSpPr>
          <p:nvPr/>
        </p:nvCxnSpPr>
        <p:spPr>
          <a:xfrm flipH="1" flipV="1">
            <a:off x="2995734" y="4119445"/>
            <a:ext cx="338016" cy="4364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205C4982-C19B-48C9-873B-6C5ACCFCAE35}"/>
              </a:ext>
            </a:extLst>
          </p:cNvPr>
          <p:cNvCxnSpPr>
            <a:cxnSpLocks/>
          </p:cNvCxnSpPr>
          <p:nvPr/>
        </p:nvCxnSpPr>
        <p:spPr>
          <a:xfrm flipH="1" flipV="1">
            <a:off x="5011281" y="4093492"/>
            <a:ext cx="266748" cy="480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8CD51AA4-C5B4-4F55-A006-75F8BEFE5B65}"/>
              </a:ext>
            </a:extLst>
          </p:cNvPr>
          <p:cNvCxnSpPr>
            <a:cxnSpLocks/>
          </p:cNvCxnSpPr>
          <p:nvPr/>
        </p:nvCxnSpPr>
        <p:spPr>
          <a:xfrm flipH="1" flipV="1">
            <a:off x="4607575" y="4158974"/>
            <a:ext cx="85758" cy="3763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FCD7ACBA-AA47-4BCB-B05E-84CA4F95FFFF}"/>
              </a:ext>
            </a:extLst>
          </p:cNvPr>
          <p:cNvCxnSpPr>
            <a:cxnSpLocks/>
          </p:cNvCxnSpPr>
          <p:nvPr/>
        </p:nvCxnSpPr>
        <p:spPr>
          <a:xfrm flipH="1" flipV="1">
            <a:off x="5472234" y="4155603"/>
            <a:ext cx="110102" cy="3687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D380FEBB-9C1F-4EEF-99F9-E00DAA349CDD}"/>
              </a:ext>
            </a:extLst>
          </p:cNvPr>
          <p:cNvCxnSpPr>
            <a:cxnSpLocks/>
          </p:cNvCxnSpPr>
          <p:nvPr/>
        </p:nvCxnSpPr>
        <p:spPr>
          <a:xfrm flipV="1">
            <a:off x="7550222" y="4119445"/>
            <a:ext cx="106627" cy="4569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AD470C2D-7F14-4786-991C-2D3A730C43BC}"/>
              </a:ext>
            </a:extLst>
          </p:cNvPr>
          <p:cNvCxnSpPr>
            <a:cxnSpLocks/>
          </p:cNvCxnSpPr>
          <p:nvPr/>
        </p:nvCxnSpPr>
        <p:spPr>
          <a:xfrm flipV="1">
            <a:off x="8316932" y="4162724"/>
            <a:ext cx="128156" cy="4135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7F3C3B7C-A7A4-4828-82EE-C5BCDE2048D4}"/>
              </a:ext>
            </a:extLst>
          </p:cNvPr>
          <p:cNvCxnSpPr>
            <a:cxnSpLocks/>
          </p:cNvCxnSpPr>
          <p:nvPr/>
        </p:nvCxnSpPr>
        <p:spPr>
          <a:xfrm flipH="1" flipV="1">
            <a:off x="8879991" y="4174719"/>
            <a:ext cx="1" cy="40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84CADAF8-1910-4563-A4C4-0F3B2DFE8989}"/>
              </a:ext>
            </a:extLst>
          </p:cNvPr>
          <p:cNvCxnSpPr>
            <a:cxnSpLocks/>
          </p:cNvCxnSpPr>
          <p:nvPr/>
        </p:nvCxnSpPr>
        <p:spPr>
          <a:xfrm flipV="1">
            <a:off x="9302482" y="4155603"/>
            <a:ext cx="12315" cy="400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Bal oldali kapcsos zárójel 35">
            <a:extLst>
              <a:ext uri="{FF2B5EF4-FFF2-40B4-BE49-F238E27FC236}">
                <a16:creationId xmlns:a16="http://schemas.microsoft.com/office/drawing/2014/main" id="{AB6D6D57-5254-455C-97DF-C0F73EFE1066}"/>
              </a:ext>
            </a:extLst>
          </p:cNvPr>
          <p:cNvSpPr/>
          <p:nvPr/>
        </p:nvSpPr>
        <p:spPr>
          <a:xfrm rot="16200000">
            <a:off x="3296874" y="4370325"/>
            <a:ext cx="381000" cy="1502508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Bal oldali kapcsos zárójel 38">
            <a:extLst>
              <a:ext uri="{FF2B5EF4-FFF2-40B4-BE49-F238E27FC236}">
                <a16:creationId xmlns:a16="http://schemas.microsoft.com/office/drawing/2014/main" id="{5AF70C09-3E82-44FF-992A-8282513D65C5}"/>
              </a:ext>
            </a:extLst>
          </p:cNvPr>
          <p:cNvSpPr/>
          <p:nvPr/>
        </p:nvSpPr>
        <p:spPr>
          <a:xfrm rot="16200000">
            <a:off x="5014589" y="4370325"/>
            <a:ext cx="381000" cy="1502508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Bal oldali kapcsos zárójel 39">
            <a:extLst>
              <a:ext uri="{FF2B5EF4-FFF2-40B4-BE49-F238E27FC236}">
                <a16:creationId xmlns:a16="http://schemas.microsoft.com/office/drawing/2014/main" id="{B98EA55C-441C-4CFA-80E3-E739EFE8D4EE}"/>
              </a:ext>
            </a:extLst>
          </p:cNvPr>
          <p:cNvSpPr/>
          <p:nvPr/>
        </p:nvSpPr>
        <p:spPr>
          <a:xfrm rot="16200000">
            <a:off x="6907249" y="4364348"/>
            <a:ext cx="381000" cy="1502508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Bal oldali kapcsos zárójel 40">
            <a:extLst>
              <a:ext uri="{FF2B5EF4-FFF2-40B4-BE49-F238E27FC236}">
                <a16:creationId xmlns:a16="http://schemas.microsoft.com/office/drawing/2014/main" id="{BD96E20F-025F-4122-B0F0-C9602E12B10A}"/>
              </a:ext>
            </a:extLst>
          </p:cNvPr>
          <p:cNvSpPr/>
          <p:nvPr/>
        </p:nvSpPr>
        <p:spPr>
          <a:xfrm rot="16200000">
            <a:off x="6160817" y="2882677"/>
            <a:ext cx="360378" cy="6291787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F2503BC1-8A44-4FB6-82CE-B48CB6CD988F}"/>
              </a:ext>
            </a:extLst>
          </p:cNvPr>
          <p:cNvSpPr txBox="1"/>
          <p:nvPr/>
        </p:nvSpPr>
        <p:spPr>
          <a:xfrm>
            <a:off x="3182897" y="5452631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192</a:t>
            </a: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DB05599B-C71B-49DF-8EF2-79942C936E0C}"/>
              </a:ext>
            </a:extLst>
          </p:cNvPr>
          <p:cNvSpPr txBox="1"/>
          <p:nvPr/>
        </p:nvSpPr>
        <p:spPr>
          <a:xfrm>
            <a:off x="4922999" y="5452631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168</a:t>
            </a: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B1A8EFEC-5A8A-4ECC-835C-3AF7D5A9BAEA}"/>
              </a:ext>
            </a:extLst>
          </p:cNvPr>
          <p:cNvSpPr txBox="1"/>
          <p:nvPr/>
        </p:nvSpPr>
        <p:spPr>
          <a:xfrm>
            <a:off x="6924564" y="5452631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</a:t>
            </a:r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96BEBA91-10F7-44AB-9946-2C549DFCD1AF}"/>
              </a:ext>
            </a:extLst>
          </p:cNvPr>
          <p:cNvSpPr txBox="1"/>
          <p:nvPr/>
        </p:nvSpPr>
        <p:spPr>
          <a:xfrm>
            <a:off x="8664306" y="5452631"/>
            <a:ext cx="6381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84</a:t>
            </a:r>
          </a:p>
        </p:txBody>
      </p:sp>
      <p:sp>
        <p:nvSpPr>
          <p:cNvPr id="46" name="Bal oldali kapcsos zárójel 45">
            <a:extLst>
              <a:ext uri="{FF2B5EF4-FFF2-40B4-BE49-F238E27FC236}">
                <a16:creationId xmlns:a16="http://schemas.microsoft.com/office/drawing/2014/main" id="{5736C682-C9A5-47BD-8ACD-C0C7956941CB}"/>
              </a:ext>
            </a:extLst>
          </p:cNvPr>
          <p:cNvSpPr/>
          <p:nvPr/>
        </p:nvSpPr>
        <p:spPr>
          <a:xfrm rot="16200000">
            <a:off x="8832288" y="4516748"/>
            <a:ext cx="381000" cy="1502508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A04AF834-BD8B-45CD-8D4C-5114E748158B}"/>
              </a:ext>
            </a:extLst>
          </p:cNvPr>
          <p:cNvSpPr txBox="1"/>
          <p:nvPr/>
        </p:nvSpPr>
        <p:spPr>
          <a:xfrm>
            <a:off x="5403622" y="6329601"/>
            <a:ext cx="187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192.168.2.84</a:t>
            </a:r>
          </a:p>
        </p:txBody>
      </p:sp>
    </p:spTree>
    <p:extLst>
      <p:ext uri="{BB962C8B-B14F-4D97-AF65-F5344CB8AC3E}">
        <p14:creationId xmlns:p14="http://schemas.microsoft.com/office/powerpoint/2010/main" val="55431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36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  <p:bldP spid="46" grpId="0" animBg="1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40" y="1033308"/>
            <a:ext cx="7729728" cy="652612"/>
          </a:xfrm>
        </p:spPr>
        <p:txBody>
          <a:bodyPr/>
          <a:lstStyle/>
          <a:p>
            <a:r>
              <a:rPr lang="hu-HU" dirty="0"/>
              <a:t>Alhálózat számítási példa 1.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BB7D19C-6193-43C6-A99A-CC5CE5071A15}"/>
              </a:ext>
            </a:extLst>
          </p:cNvPr>
          <p:cNvSpPr txBox="1"/>
          <p:nvPr/>
        </p:nvSpPr>
        <p:spPr>
          <a:xfrm>
            <a:off x="857250" y="36195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/28      1111111. 11111111. 11111111. 11110000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5D8C849-18C3-45D5-B50D-9A5EFFBC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2421672"/>
            <a:ext cx="4505325" cy="533400"/>
          </a:xfrm>
          <a:prstGeom prst="rect">
            <a:avLst/>
          </a:prstGeom>
        </p:spPr>
      </p:pic>
      <p:sp>
        <p:nvSpPr>
          <p:cNvPr id="6" name="Bal oldali kapcsos zárójel 5">
            <a:extLst>
              <a:ext uri="{FF2B5EF4-FFF2-40B4-BE49-F238E27FC236}">
                <a16:creationId xmlns:a16="http://schemas.microsoft.com/office/drawing/2014/main" id="{293CB720-560B-4A0D-8587-5AA958027750}"/>
              </a:ext>
            </a:extLst>
          </p:cNvPr>
          <p:cNvSpPr/>
          <p:nvPr/>
        </p:nvSpPr>
        <p:spPr>
          <a:xfrm rot="16200000">
            <a:off x="4786327" y="1347960"/>
            <a:ext cx="238096" cy="5874641"/>
          </a:xfrm>
          <a:prstGeom prst="lef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A70B5A7-B3D3-42F1-A7ED-21C0C3D3CC42}"/>
              </a:ext>
            </a:extLst>
          </p:cNvPr>
          <p:cNvSpPr txBox="1"/>
          <p:nvPr/>
        </p:nvSpPr>
        <p:spPr>
          <a:xfrm>
            <a:off x="3800475" y="463266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28 db egyes balról jobbra.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3FC627-FCB0-45FD-A3AF-6760263F75D8}"/>
              </a:ext>
            </a:extLst>
          </p:cNvPr>
          <p:cNvSpPr txBox="1"/>
          <p:nvPr/>
        </p:nvSpPr>
        <p:spPr>
          <a:xfrm>
            <a:off x="7105654" y="2517124"/>
            <a:ext cx="200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CIDR azonosító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067EFF5E-A2A9-4547-BC88-6C83CB600421}"/>
              </a:ext>
            </a:extLst>
          </p:cNvPr>
          <p:cNvCxnSpPr>
            <a:stCxn id="8" idx="1"/>
          </p:cNvCxnSpPr>
          <p:nvPr/>
        </p:nvCxnSpPr>
        <p:spPr>
          <a:xfrm flipH="1">
            <a:off x="6372225" y="2701790"/>
            <a:ext cx="7334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églalap 10">
            <a:extLst>
              <a:ext uri="{FF2B5EF4-FFF2-40B4-BE49-F238E27FC236}">
                <a16:creationId xmlns:a16="http://schemas.microsoft.com/office/drawing/2014/main" id="{E3B85E4B-2CF5-4FAD-A6D4-7CDF306C938E}"/>
              </a:ext>
            </a:extLst>
          </p:cNvPr>
          <p:cNvSpPr/>
          <p:nvPr/>
        </p:nvSpPr>
        <p:spPr>
          <a:xfrm>
            <a:off x="3800475" y="5230329"/>
            <a:ext cx="2665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b="1" dirty="0">
                <a:solidFill>
                  <a:srgbClr val="0070C0"/>
                </a:solidFill>
              </a:rPr>
              <a:t>Maszk: 255.255.255.240</a:t>
            </a:r>
          </a:p>
        </p:txBody>
      </p:sp>
    </p:spTree>
    <p:extLst>
      <p:ext uri="{BB962C8B-B14F-4D97-AF65-F5344CB8AC3E}">
        <p14:creationId xmlns:p14="http://schemas.microsoft.com/office/powerpoint/2010/main" val="313433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8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851D9-331F-4788-9206-5A89339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11" y="499908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Alhálózat számítási példa 1. megoldása (A verzió)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BB7D19C-6193-43C6-A99A-CC5CE5071A15}"/>
              </a:ext>
            </a:extLst>
          </p:cNvPr>
          <p:cNvSpPr txBox="1"/>
          <p:nvPr/>
        </p:nvSpPr>
        <p:spPr>
          <a:xfrm>
            <a:off x="914399" y="4248150"/>
            <a:ext cx="63912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 		01010100     IP utolsó 8 bit</a:t>
            </a:r>
          </a:p>
          <a:p>
            <a:r>
              <a:rPr lang="hu-HU" sz="3200" dirty="0"/>
              <a:t> 	</a:t>
            </a:r>
            <a:r>
              <a:rPr lang="hu-HU" sz="3200" u="sng" dirty="0"/>
              <a:t>&amp;	11110000</a:t>
            </a:r>
            <a:r>
              <a:rPr lang="hu-HU" sz="3200" dirty="0"/>
              <a:t>     maszk utolsó 8 bit</a:t>
            </a:r>
          </a:p>
          <a:p>
            <a:r>
              <a:rPr lang="hu-HU" sz="3200" dirty="0"/>
              <a:t>        </a:t>
            </a:r>
            <a:r>
              <a:rPr lang="hu-HU" sz="3200" dirty="0">
                <a:solidFill>
                  <a:srgbClr val="FF0000"/>
                </a:solidFill>
              </a:rPr>
              <a:t>01010000     ez 64+16=80</a:t>
            </a:r>
          </a:p>
          <a:p>
            <a:endParaRPr lang="hu-HU" sz="3200" dirty="0">
              <a:solidFill>
                <a:srgbClr val="FF0000"/>
              </a:solidFill>
            </a:endParaRPr>
          </a:p>
          <a:p>
            <a:r>
              <a:rPr lang="hu-HU" sz="3200" dirty="0">
                <a:solidFill>
                  <a:schemeClr val="bg1"/>
                </a:solidFill>
              </a:rPr>
              <a:t>Így az alhálózat címe: 192.168.2.80      </a:t>
            </a:r>
          </a:p>
          <a:p>
            <a:endParaRPr lang="hu-HU" sz="3200" u="sng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DE8FA72-9528-4C69-B07C-32AF627119CA}"/>
              </a:ext>
            </a:extLst>
          </p:cNvPr>
          <p:cNvSpPr txBox="1"/>
          <p:nvPr/>
        </p:nvSpPr>
        <p:spPr>
          <a:xfrm>
            <a:off x="1040511" y="2764684"/>
            <a:ext cx="7729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Vesszük az IP címből is az utolsó 8 bitet és a maszkból is, majd ezeken elvégzem az ÉS műveletet. </a:t>
            </a:r>
          </a:p>
          <a:p>
            <a:r>
              <a:rPr lang="hu-HU" sz="2400" dirty="0"/>
              <a:t>Azért az utolsó 8, mert C osztályú a cím.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D8091A2-56A4-4623-A24E-0EB6BC68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478" y="3493151"/>
            <a:ext cx="2000250" cy="206692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DDB6E3C-DFB9-4381-99CF-B8F2C631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153" y="2057490"/>
            <a:ext cx="4505325" cy="533400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CFD77070-A425-416B-9FB0-E1E22411DC63}"/>
              </a:ext>
            </a:extLst>
          </p:cNvPr>
          <p:cNvSpPr txBox="1"/>
          <p:nvPr/>
        </p:nvSpPr>
        <p:spPr>
          <a:xfrm>
            <a:off x="533400" y="2219459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rgbClr val="0070C0"/>
                </a:solidFill>
              </a:rPr>
              <a:t>Első féle megoldás</a:t>
            </a:r>
          </a:p>
        </p:txBody>
      </p:sp>
    </p:spTree>
    <p:extLst>
      <p:ext uri="{BB962C8B-B14F-4D97-AF65-F5344CB8AC3E}">
        <p14:creationId xmlns:p14="http://schemas.microsoft.com/office/powerpoint/2010/main" val="223651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A1A30A1A-78BD-4151-85E1-E11FD026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11" y="499908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Alhálózat számítási példa 1. megoldása (B verzió)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A830101-A67E-42A9-8210-17CE9B6BD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1910383"/>
            <a:ext cx="4505325" cy="533400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2AE55AB9-DC55-45E2-99F6-724481CFAA5F}"/>
              </a:ext>
            </a:extLst>
          </p:cNvPr>
          <p:cNvSpPr txBox="1"/>
          <p:nvPr/>
        </p:nvSpPr>
        <p:spPr>
          <a:xfrm>
            <a:off x="533400" y="2219459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rgbClr val="0070C0"/>
                </a:solidFill>
              </a:rPr>
              <a:t>Második féle megoldás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7E00329-4402-48AD-A421-4B31DB17DD0B}"/>
              </a:ext>
            </a:extLst>
          </p:cNvPr>
          <p:cNvSpPr txBox="1"/>
          <p:nvPr/>
        </p:nvSpPr>
        <p:spPr>
          <a:xfrm>
            <a:off x="452438" y="2665539"/>
            <a:ext cx="9753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Mivel az IP címünk 192-vel kezdődik, ezért az a cím egy C osztályú a cím. Ez azt jelenti, hogy a az </a:t>
            </a:r>
            <a:r>
              <a:rPr lang="hu-H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első 24 bit 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lesz a </a:t>
            </a:r>
            <a:r>
              <a:rPr lang="hu-H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hálózat 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cím, az </a:t>
            </a:r>
            <a:r>
              <a:rPr lang="hu-H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utolsó 8 bit 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lesz a </a:t>
            </a:r>
            <a:r>
              <a:rPr lang="hu-H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gép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cím.  Az utolsó nyolc bitből 4 db 1, a /28 miatt, ezért csak az utolsó 4 bit lesz az, ami meghatározza a gép címét. 4 biten 16 (2</a:t>
            </a:r>
            <a:r>
              <a:rPr lang="hu-HU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különböző címet tudok kiosztani.  Ezért az IP tartományom 16-sával fog növekedni.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B198DA5-4EED-47FF-A4F2-920EC4DCCFEA}"/>
              </a:ext>
            </a:extLst>
          </p:cNvPr>
          <p:cNvSpPr txBox="1"/>
          <p:nvPr/>
        </p:nvSpPr>
        <p:spPr>
          <a:xfrm>
            <a:off x="481012" y="4703676"/>
            <a:ext cx="35861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192.168.2.0      -    192.168.2.15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192.168.2.16    -    192.168.2.31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192.168.2.32    -    192.168.2.47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192.168.2.48    -    192.168.2.63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192.168.2.64    -    192.168.2.79</a:t>
            </a:r>
          </a:p>
          <a:p>
            <a:r>
              <a:rPr lang="hu-H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192.168.2.80    -    192.168.2.95</a:t>
            </a:r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64E4893-76DF-452E-8E32-05C174089CBC}"/>
              </a:ext>
            </a:extLst>
          </p:cNvPr>
          <p:cNvSpPr txBox="1"/>
          <p:nvPr/>
        </p:nvSpPr>
        <p:spPr>
          <a:xfrm>
            <a:off x="4350542" y="4692477"/>
            <a:ext cx="37838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192.168.2.96      -    192.168.2.111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192.168.2.112    -    192.168.2.127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192.168.2.128    -    192.168.2.143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192.168.2.144    -    192.168.2.159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192.168.2.160    -    192.168.2.175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192.168.2.176    -    192.168.2.191</a:t>
            </a:r>
          </a:p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93B2495-42A1-4E00-8896-A9A4B6C1C6E2}"/>
              </a:ext>
            </a:extLst>
          </p:cNvPr>
          <p:cNvSpPr txBox="1"/>
          <p:nvPr/>
        </p:nvSpPr>
        <p:spPr>
          <a:xfrm>
            <a:off x="8220077" y="4703676"/>
            <a:ext cx="39719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192.168.2.192      -    192.168.2.207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192.168.2.208      -    192.168.2.223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192.168.2.224      -    192.168.2.239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192.168.2.240      -    192.168.2.255</a:t>
            </a:r>
          </a:p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951D0C7-E015-41B6-8260-0E6E8E7B32FC}"/>
              </a:ext>
            </a:extLst>
          </p:cNvPr>
          <p:cNvSpPr txBox="1"/>
          <p:nvPr/>
        </p:nvSpPr>
        <p:spPr>
          <a:xfrm>
            <a:off x="414338" y="3988978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1111111. 11111111. 11111111. 1111</a:t>
            </a:r>
            <a:r>
              <a:rPr lang="hu-H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403011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729AE6D9-0E18-46AD-AEE4-9ADC5CB3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611" y="724535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Gyakorló feladatok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A5BB524-A92D-4159-A1BF-FE9C070B6B57}"/>
              </a:ext>
            </a:extLst>
          </p:cNvPr>
          <p:cNvSpPr txBox="1"/>
          <p:nvPr/>
        </p:nvSpPr>
        <p:spPr>
          <a:xfrm>
            <a:off x="628650" y="2247900"/>
            <a:ext cx="101060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Határozza meg a az alábbi IP/Maszk címekhez tartozó alhálózati címet szórási címet és a kiosztható IP-k számát!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a.) IP/Maszk  193.124.15.148/27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IP/Maszk  195.14.150.108/26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c.) IP/Maszk  193.124.15.38/29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d.) IP/Maszk 135.125.134.2/22                    kiosztható-e 1234 db IP?</a:t>
            </a:r>
          </a:p>
          <a:p>
            <a:r>
              <a:rPr lang="hu-H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1263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507DB1A8-152D-493F-9BA9-FCA46600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331" y="865548"/>
            <a:ext cx="7729728" cy="881217"/>
          </a:xfrm>
        </p:spPr>
        <p:txBody>
          <a:bodyPr>
            <a:normAutofit fontScale="90000"/>
          </a:bodyPr>
          <a:lstStyle/>
          <a:p>
            <a:r>
              <a:rPr lang="hu-HU" dirty="0"/>
              <a:t>Alhálózat számítási példa 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08EF63B-1F6C-4AF4-A452-12D0332F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12" y="2099310"/>
            <a:ext cx="8571548" cy="389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84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06EE2DEC-4748-4358-97CB-197E6867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361" y="785658"/>
            <a:ext cx="7729728" cy="995517"/>
          </a:xfrm>
        </p:spPr>
        <p:txBody>
          <a:bodyPr>
            <a:normAutofit fontScale="90000"/>
          </a:bodyPr>
          <a:lstStyle/>
          <a:p>
            <a:r>
              <a:rPr lang="hu-HU" dirty="0"/>
              <a:t>Alhálózat számítási példa 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FA4CFB7-47A1-47CE-8FFE-5E06C024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4" y="2011046"/>
            <a:ext cx="8592185" cy="44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3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FEA9E05A-E8E1-4648-8411-0F2FA5ED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2006282"/>
            <a:ext cx="8696325" cy="4352925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60B8F138-8428-4710-9947-76AB43E27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511" y="785658"/>
            <a:ext cx="7729728" cy="862167"/>
          </a:xfrm>
        </p:spPr>
        <p:txBody>
          <a:bodyPr>
            <a:normAutofit fontScale="90000"/>
          </a:bodyPr>
          <a:lstStyle/>
          <a:p>
            <a:r>
              <a:rPr lang="hu-HU" dirty="0"/>
              <a:t>Alhálózat számítási példa 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</p:spTree>
    <p:extLst>
      <p:ext uri="{BB962C8B-B14F-4D97-AF65-F5344CB8AC3E}">
        <p14:creationId xmlns:p14="http://schemas.microsoft.com/office/powerpoint/2010/main" val="2673981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729AE6D9-0E18-46AD-AEE4-9ADC5CB3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23758"/>
            <a:ext cx="7729728" cy="871692"/>
          </a:xfrm>
        </p:spPr>
        <p:txBody>
          <a:bodyPr>
            <a:normAutofit fontScale="90000"/>
          </a:bodyPr>
          <a:lstStyle/>
          <a:p>
            <a:r>
              <a:rPr lang="hu-HU" dirty="0"/>
              <a:t>Alhálózat számítási példa 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92747E7-620D-46DF-83F1-F3CAA6643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2128992"/>
            <a:ext cx="85629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90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ím 1">
            <a:extLst>
              <a:ext uri="{FF2B5EF4-FFF2-40B4-BE49-F238E27FC236}">
                <a16:creationId xmlns:a16="http://schemas.microsoft.com/office/drawing/2014/main" id="{533CAFB5-E1D1-45CB-B1B9-CFD9D5E1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964" y="962314"/>
            <a:ext cx="7729728" cy="571287"/>
          </a:xfrm>
        </p:spPr>
        <p:txBody>
          <a:bodyPr/>
          <a:lstStyle/>
          <a:p>
            <a:r>
              <a:rPr lang="hu-HU" dirty="0"/>
              <a:t>Alhálózat számítási példa 1I.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069BAD-63A6-4281-BAA3-8318892A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460" y="2071304"/>
            <a:ext cx="10551215" cy="166687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maszk: CIDR = 16, így decimálisan 255. 255. 0. 0 azaz  </a:t>
            </a:r>
            <a:b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11111111. 11111111. </a:t>
            </a:r>
            <a:r>
              <a:rPr lang="hu-H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 binárisan. Ezt szeretnénk 8 részre osztani. (8 =2</a:t>
            </a:r>
            <a:r>
              <a:rPr lang="hu-HU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Ez azt jelenti, hogy a maszk 16 db 0-jából az első hárommal le tudjuk írni az összes lehetséges alhálózatot. 11111111. 11111111. </a:t>
            </a:r>
            <a:r>
              <a:rPr lang="hu-HU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 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D7A7561A-4DB2-4B2A-AF6A-C1157A71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89" y="782433"/>
            <a:ext cx="3962400" cy="876300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98AFBC3D-5443-453E-81BC-F82039BAEF55}"/>
              </a:ext>
            </a:extLst>
          </p:cNvPr>
          <p:cNvSpPr txBox="1"/>
          <p:nvPr/>
        </p:nvSpPr>
        <p:spPr>
          <a:xfrm>
            <a:off x="183460" y="3847025"/>
            <a:ext cx="4143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00000. 00000000</a:t>
            </a:r>
            <a:endParaRPr lang="hu-HU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DFB064E6-37CE-498B-AC31-B4E7BA9333F1}"/>
              </a:ext>
            </a:extLst>
          </p:cNvPr>
          <p:cNvSpPr txBox="1"/>
          <p:nvPr/>
        </p:nvSpPr>
        <p:spPr>
          <a:xfrm>
            <a:off x="4441317" y="3847025"/>
            <a:ext cx="4143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 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</a:p>
          <a:p>
            <a:pPr algn="just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172. 17. </a:t>
            </a:r>
            <a:r>
              <a:rPr lang="hu-H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11111. 11111111</a:t>
            </a:r>
            <a:endParaRPr lang="hu-HU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CA81CA80-C635-4CDE-BAC4-76177F605E97}"/>
              </a:ext>
            </a:extLst>
          </p:cNvPr>
          <p:cNvSpPr txBox="1"/>
          <p:nvPr/>
        </p:nvSpPr>
        <p:spPr>
          <a:xfrm>
            <a:off x="8503539" y="3847025"/>
            <a:ext cx="3181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172.17.0.0     – 172.17.31.255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172.17.32.0   – 172.17.63.255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172.17.64.0   – 172.17.95.255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172.17.96.0   – 172.17.123.255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172.17.128.0 – 172.17.159.255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172.17.160.0 – 172.17.191.255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172.17.192.0 – 172.17.223.255</a:t>
            </a:r>
          </a:p>
          <a:p>
            <a:pPr algn="just"/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172.17.224.0 – 172.17.255.255</a:t>
            </a:r>
          </a:p>
        </p:txBody>
      </p:sp>
    </p:spTree>
    <p:extLst>
      <p:ext uri="{BB962C8B-B14F-4D97-AF65-F5344CB8AC3E}">
        <p14:creationId xmlns:p14="http://schemas.microsoft.com/office/powerpoint/2010/main" val="377426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60C08BB4-CBC9-42A5-B09A-F1248B4E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11" y="2161346"/>
            <a:ext cx="8361906" cy="4615463"/>
          </a:xfrm>
          <a:prstGeom prst="rect">
            <a:avLst/>
          </a:prstGeom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932AFBCD-161C-4EAF-8DFD-36085A26B099}"/>
              </a:ext>
            </a:extLst>
          </p:cNvPr>
          <p:cNvSpPr txBox="1">
            <a:spLocks/>
          </p:cNvSpPr>
          <p:nvPr/>
        </p:nvSpPr>
        <p:spPr bwMode="black">
          <a:xfrm>
            <a:off x="2231136" y="566583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Alhálózat számítási példa I1.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</p:spTree>
    <p:extLst>
      <p:ext uri="{BB962C8B-B14F-4D97-AF65-F5344CB8AC3E}">
        <p14:creationId xmlns:p14="http://schemas.microsoft.com/office/powerpoint/2010/main" val="881854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A69A1363-5A00-4E51-87E9-940EAAB65962}"/>
              </a:ext>
            </a:extLst>
          </p:cNvPr>
          <p:cNvSpPr txBox="1">
            <a:spLocks/>
          </p:cNvSpPr>
          <p:nvPr/>
        </p:nvSpPr>
        <p:spPr bwMode="black">
          <a:xfrm>
            <a:off x="2431161" y="499908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Alhálózat számítási példa I1.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6BECD0C-2803-4CF6-BD52-7EDA4463D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35" y="2033742"/>
            <a:ext cx="89820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81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5B3D0B4C-2F86-4B1C-B6FE-60D58EFFAA85}"/>
              </a:ext>
            </a:extLst>
          </p:cNvPr>
          <p:cNvSpPr txBox="1">
            <a:spLocks/>
          </p:cNvSpPr>
          <p:nvPr/>
        </p:nvSpPr>
        <p:spPr bwMode="black">
          <a:xfrm>
            <a:off x="2421636" y="509433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Alhálózat számítási példa I1.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DAB594-F715-49F0-A154-8B627D0F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2164452"/>
            <a:ext cx="90011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10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>
            <a:extLst>
              <a:ext uri="{FF2B5EF4-FFF2-40B4-BE49-F238E27FC236}">
                <a16:creationId xmlns:a16="http://schemas.microsoft.com/office/drawing/2014/main" id="{5B3D0B4C-2F86-4B1C-B6FE-60D58EFFAA85}"/>
              </a:ext>
            </a:extLst>
          </p:cNvPr>
          <p:cNvSpPr txBox="1">
            <a:spLocks/>
          </p:cNvSpPr>
          <p:nvPr/>
        </p:nvSpPr>
        <p:spPr bwMode="black">
          <a:xfrm>
            <a:off x="1573911" y="395133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feladatok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850386C3-892F-4DC3-A74B-98D890B4A75F}"/>
              </a:ext>
            </a:extLst>
          </p:cNvPr>
          <p:cNvSpPr txBox="1"/>
          <p:nvPr/>
        </p:nvSpPr>
        <p:spPr>
          <a:xfrm>
            <a:off x="628650" y="2247900"/>
            <a:ext cx="101060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Osszuk fel az alábbi alábbi IP/Maszk tartományok a megadott részekre!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a.) IP/Maszk  193.124.15.0/27   4 részre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IP/Maszk  132.14.0.0/22       8 részre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c.) IP/Maszk  193.124.192.0/25  2 részre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d.) IP/Maszk 10.44.0.0/16         16 részre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3754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ím 1">
            <a:extLst>
              <a:ext uri="{FF2B5EF4-FFF2-40B4-BE49-F238E27FC236}">
                <a16:creationId xmlns:a16="http://schemas.microsoft.com/office/drawing/2014/main" id="{533CAFB5-E1D1-45CB-B1B9-CFD9D5E1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11" y="499908"/>
            <a:ext cx="7729728" cy="1188720"/>
          </a:xfrm>
        </p:spPr>
        <p:txBody>
          <a:bodyPr/>
          <a:lstStyle/>
          <a:p>
            <a:r>
              <a:rPr lang="hu-HU" dirty="0"/>
              <a:t>Alhálózat számítási példa I1I.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EBC57428-3ED5-4392-A113-8CC959B6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7" y="1977825"/>
            <a:ext cx="7210425" cy="222885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F2DD5AB-6973-4A25-92EA-7F1CF3D3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464" y="4343714"/>
            <a:ext cx="8667750" cy="5048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BECEE3A-12F9-440D-890A-D5DA971FB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464" y="5099970"/>
            <a:ext cx="8515350" cy="4572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B765981-1AC4-4A7B-9A11-0D52C9C17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464" y="5743318"/>
            <a:ext cx="9058275" cy="42862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29EE18F-6E6A-4EE1-B424-CF3CD1A88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464" y="6358092"/>
            <a:ext cx="7962900" cy="485775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CAC586E6-647A-4920-B798-A85797529B70}"/>
              </a:ext>
            </a:extLst>
          </p:cNvPr>
          <p:cNvSpPr txBox="1"/>
          <p:nvPr/>
        </p:nvSpPr>
        <p:spPr>
          <a:xfrm>
            <a:off x="5877339" y="2992001"/>
            <a:ext cx="4133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b="1" dirty="0">
                <a:solidFill>
                  <a:srgbClr val="FF0000"/>
                </a:solidFill>
              </a:rPr>
              <a:t>Tartományonként +2db IP cím (+6, minden tartományba egy alhálózati cím és egy szórási cím)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5547E60-1396-4C33-AB85-9ADA1083A378}"/>
              </a:ext>
            </a:extLst>
          </p:cNvPr>
          <p:cNvSpPr txBox="1"/>
          <p:nvPr/>
        </p:nvSpPr>
        <p:spPr>
          <a:xfrm>
            <a:off x="942975" y="3914775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rgbClr val="FF0000"/>
                </a:solidFill>
              </a:rPr>
              <a:t>Össz</a:t>
            </a:r>
            <a:r>
              <a:rPr lang="hu-HU" b="1" dirty="0">
                <a:solidFill>
                  <a:srgbClr val="FF0000"/>
                </a:solidFill>
              </a:rPr>
              <a:t>. IP: 312+24+3+6= 345</a:t>
            </a:r>
          </a:p>
        </p:txBody>
      </p:sp>
    </p:spTree>
    <p:extLst>
      <p:ext uri="{BB962C8B-B14F-4D97-AF65-F5344CB8AC3E}">
        <p14:creationId xmlns:p14="http://schemas.microsoft.com/office/powerpoint/2010/main" val="376587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2552BD8D-C3B3-47A4-BEFF-C32FBB60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61" y="1039576"/>
            <a:ext cx="7729728" cy="595467"/>
          </a:xfrm>
        </p:spPr>
        <p:txBody>
          <a:bodyPr/>
          <a:lstStyle/>
          <a:p>
            <a:r>
              <a:rPr lang="hu-HU" dirty="0"/>
              <a:t>Alhálózat számítási példa I1I.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069BAD-63A6-4281-BAA3-8318892A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2047875"/>
            <a:ext cx="9372600" cy="481012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ilyen feladatokat úgy kezdjük el, hogy a legnagyobb gép számú hálózat IP kiosztásával kezdjük, azt a darabszám csökkenő sorrendjébe vesszük a következőt.</a:t>
            </a:r>
          </a:p>
          <a:p>
            <a:pPr marL="0" indent="0" algn="just">
              <a:buNone/>
            </a:pPr>
            <a:r>
              <a:rPr lang="hu-H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Gyártó sor</a:t>
            </a:r>
          </a:p>
          <a:p>
            <a:pPr marL="0" indent="0" algn="just">
              <a:buNone/>
            </a:pP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312 gép + 2db IP 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(alhálózat cím és szórási cím) (512-es hálózat)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Alhálózat cím: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192.168.8.0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első cím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Szórási cím:    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192.168.9.255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utolsó cím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Cím tartomány: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192.168.8.1 – 192.168.9.56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(ez úgy jön ki, hogy a </a:t>
            </a:r>
            <a:b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192.168.8.1- 192.168.8.255 –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 255 db IP, és 312-255=57 IP kell még, ez pedig a 192.168.9.0 – 192.168.9.56 –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megvan)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Maszk: 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255.255.254.0 CIDR 23</a:t>
            </a:r>
          </a:p>
          <a:p>
            <a:pPr marL="0" indent="0" algn="just">
              <a:buNone/>
            </a:pPr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207691D-23E4-4602-987C-C8C94C60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2868376"/>
            <a:ext cx="62388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DBA29918-155E-4AAC-9882-B97DF40C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161" y="1067770"/>
            <a:ext cx="7729728" cy="595467"/>
          </a:xfrm>
        </p:spPr>
        <p:txBody>
          <a:bodyPr/>
          <a:lstStyle/>
          <a:p>
            <a:r>
              <a:rPr lang="hu-HU" dirty="0"/>
              <a:t>Alhálózat számítási példa I1I.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1E0988B1-F8C5-4750-ABB2-2D1050CA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2757077"/>
            <a:ext cx="7877175" cy="399614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hu-H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Tervezési osztály</a:t>
            </a:r>
          </a:p>
          <a:p>
            <a:pPr marL="0" indent="0" algn="just">
              <a:buNone/>
            </a:pP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gép + 2db IP 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(alhálózat cím és szórási cím) (32-es hálózat)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Alhálózat cím: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192.168.9.128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első cím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Szórási cím:    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192.168.9.159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utolsó cím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Cím tartomány: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192.168.9.129 – 192.168.9.152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(ez úgy jön ki, hogy 24 IP címet adunk 129-től 152-ig az 24 db cím, mert 129-es is bele tartozik)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Maszk: 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255.255.255.224 CIDR 27</a:t>
            </a:r>
          </a:p>
          <a:p>
            <a:pPr marL="0" indent="0" algn="just">
              <a:buNone/>
            </a:pPr>
            <a:endParaRPr lang="hu-H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B5B92E0-663C-4D01-9159-10C6C95A2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487475"/>
            <a:ext cx="6238875" cy="47625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39A0DA7-9923-4084-B7D0-CD596649120A}"/>
              </a:ext>
            </a:extLst>
          </p:cNvPr>
          <p:cNvSpPr txBox="1"/>
          <p:nvPr/>
        </p:nvSpPr>
        <p:spPr>
          <a:xfrm>
            <a:off x="485773" y="2083272"/>
            <a:ext cx="962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Gyártó sornak már kiosztott: </a:t>
            </a:r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192.168.8.1 – 192.168.9.56 , 192.168.9.255 szórási cím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hu-HU" b="1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4589E95-AEFE-4B31-B4D0-F4A62D5A3B0B}"/>
              </a:ext>
            </a:extLst>
          </p:cNvPr>
          <p:cNvSpPr txBox="1"/>
          <p:nvPr/>
        </p:nvSpPr>
        <p:spPr>
          <a:xfrm>
            <a:off x="8201026" y="3170372"/>
            <a:ext cx="21812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 lehetne: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192.168.9.0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192.168.9.32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192.168.9.64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192.168.9.96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192.168.9.128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192.168.9.160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192.168.9.192</a:t>
            </a:r>
            <a:endParaRPr lang="hu-HU" sz="2400" dirty="0"/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192.168.9.224</a:t>
            </a:r>
            <a:endParaRPr lang="hu-HU" sz="2400" dirty="0"/>
          </a:p>
        </p:txBody>
      </p:sp>
      <p:sp>
        <p:nvSpPr>
          <p:cNvPr id="9" name="Jobb oldali kapcsos zárójel 8">
            <a:extLst>
              <a:ext uri="{FF2B5EF4-FFF2-40B4-BE49-F238E27FC236}">
                <a16:creationId xmlns:a16="http://schemas.microsoft.com/office/drawing/2014/main" id="{FFFE46D8-780C-4B23-8717-51F25C645861}"/>
              </a:ext>
            </a:extLst>
          </p:cNvPr>
          <p:cNvSpPr/>
          <p:nvPr/>
        </p:nvSpPr>
        <p:spPr>
          <a:xfrm>
            <a:off x="9972675" y="3705225"/>
            <a:ext cx="133350" cy="52387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01BB372-C542-4925-BD8E-8FD2AEF39994}"/>
              </a:ext>
            </a:extLst>
          </p:cNvPr>
          <p:cNvSpPr txBox="1"/>
          <p:nvPr/>
        </p:nvSpPr>
        <p:spPr>
          <a:xfrm>
            <a:off x="10182227" y="4232201"/>
            <a:ext cx="1962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7030A0"/>
                </a:solidFill>
              </a:rPr>
              <a:t>A gyártósor bővítésére</a:t>
            </a:r>
          </a:p>
        </p:txBody>
      </p:sp>
      <p:sp>
        <p:nvSpPr>
          <p:cNvPr id="11" name="Jobb oldali kapcsos zárójel 10">
            <a:extLst>
              <a:ext uri="{FF2B5EF4-FFF2-40B4-BE49-F238E27FC236}">
                <a16:creationId xmlns:a16="http://schemas.microsoft.com/office/drawing/2014/main" id="{A875DE46-FA90-4F18-9197-4E968690B864}"/>
              </a:ext>
            </a:extLst>
          </p:cNvPr>
          <p:cNvSpPr/>
          <p:nvPr/>
        </p:nvSpPr>
        <p:spPr>
          <a:xfrm>
            <a:off x="10106025" y="6124575"/>
            <a:ext cx="200025" cy="37147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660F0E8-48E2-4FB0-A7EA-EE753314878A}"/>
              </a:ext>
            </a:extLst>
          </p:cNvPr>
          <p:cNvSpPr txBox="1"/>
          <p:nvPr/>
        </p:nvSpPr>
        <p:spPr>
          <a:xfrm>
            <a:off x="10306050" y="5934670"/>
            <a:ext cx="2038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Nem mert a gyártósor  szórása fogja</a:t>
            </a:r>
          </a:p>
        </p:txBody>
      </p: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41D438E8-FDD7-4F21-A258-66C6184E2BD3}"/>
              </a:ext>
            </a:extLst>
          </p:cNvPr>
          <p:cNvSpPr/>
          <p:nvPr/>
        </p:nvSpPr>
        <p:spPr>
          <a:xfrm>
            <a:off x="9953625" y="4302755"/>
            <a:ext cx="133350" cy="413294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2E3B9ED-6EC7-4BA5-B954-E7549AFC775A}"/>
              </a:ext>
            </a:extLst>
          </p:cNvPr>
          <p:cNvSpPr txBox="1"/>
          <p:nvPr/>
        </p:nvSpPr>
        <p:spPr>
          <a:xfrm>
            <a:off x="10144125" y="3596240"/>
            <a:ext cx="180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Nem mert a gyártósor fogja</a:t>
            </a:r>
          </a:p>
        </p:txBody>
      </p:sp>
      <p:sp>
        <p:nvSpPr>
          <p:cNvPr id="15" name="Jobb oldali kapcsos zárójel 14">
            <a:extLst>
              <a:ext uri="{FF2B5EF4-FFF2-40B4-BE49-F238E27FC236}">
                <a16:creationId xmlns:a16="http://schemas.microsoft.com/office/drawing/2014/main" id="{2AF3D49E-7B0C-462C-A18D-BDCFBD9EDC80}"/>
              </a:ext>
            </a:extLst>
          </p:cNvPr>
          <p:cNvSpPr/>
          <p:nvPr/>
        </p:nvSpPr>
        <p:spPr>
          <a:xfrm>
            <a:off x="9982204" y="4789704"/>
            <a:ext cx="200024" cy="1193380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8CB53DB-78E8-45AD-B8C8-24C91DFABB00}"/>
              </a:ext>
            </a:extLst>
          </p:cNvPr>
          <p:cNvSpPr txBox="1"/>
          <p:nvPr/>
        </p:nvSpPr>
        <p:spPr>
          <a:xfrm>
            <a:off x="10206039" y="5068437"/>
            <a:ext cx="1962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00B050"/>
                </a:solidFill>
              </a:rPr>
              <a:t>Ezek közül választhatunk</a:t>
            </a:r>
          </a:p>
        </p:txBody>
      </p:sp>
    </p:spTree>
    <p:extLst>
      <p:ext uri="{BB962C8B-B14F-4D97-AF65-F5344CB8AC3E}">
        <p14:creationId xmlns:p14="http://schemas.microsoft.com/office/powerpoint/2010/main" val="290279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B0EFC179-83FF-4990-867D-58028D8D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637" y="1083051"/>
            <a:ext cx="7729728" cy="1188720"/>
          </a:xfrm>
        </p:spPr>
        <p:txBody>
          <a:bodyPr/>
          <a:lstStyle/>
          <a:p>
            <a:r>
              <a:rPr lang="hu-HU" dirty="0"/>
              <a:t>Alhálózat számítási példa I1I.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99025E1-BE75-44B4-9A32-C2F4B521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2799666"/>
            <a:ext cx="6238875" cy="47625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6E6EB9D7-43B7-4E56-A0AF-BED4C7CD7C29}"/>
              </a:ext>
            </a:extLst>
          </p:cNvPr>
          <p:cNvSpPr txBox="1"/>
          <p:nvPr/>
        </p:nvSpPr>
        <p:spPr>
          <a:xfrm>
            <a:off x="285748" y="2009775"/>
            <a:ext cx="9620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Gyártó sornak már kiosztott: </a:t>
            </a:r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192.168.8.1 – 192.168.9.56 , 192.168.9.255 szórási cím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hu-HU" b="1" dirty="0"/>
              <a:t>Tervezési osztálynak már kiosztott: </a:t>
            </a:r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192.168.9.128 – 192.168.9.159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hu-HU" b="1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781F9F21-70E8-4821-91BB-C55694FEDF03}"/>
              </a:ext>
            </a:extLst>
          </p:cNvPr>
          <p:cNvSpPr txBox="1">
            <a:spLocks/>
          </p:cNvSpPr>
          <p:nvPr/>
        </p:nvSpPr>
        <p:spPr>
          <a:xfrm>
            <a:off x="285748" y="3028386"/>
            <a:ext cx="7877175" cy="3829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hu-HU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Vezetés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gép + 2db IP 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(alhálózat cím és szórási cím) (8-s hálózat)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Alhálózat cím: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192.168.9.200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első cím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Szórási cím:    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192.168.9.207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ez az utolsó cím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Cím tartomány: </a:t>
            </a:r>
            <a:r>
              <a:rPr lang="hu-H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192.168.9.201 – 192.168.9.203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(ez úgy jön ki, hogy 3 IP címet adunk 201-től 203-ig az 3 db cím, mert 201-es is bele tartozik)</a:t>
            </a:r>
          </a:p>
          <a:p>
            <a:pPr marL="0" indent="0" algn="just">
              <a:buNone/>
            </a:pP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Maszk: </a:t>
            </a:r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255.255.255.248 CIDR 29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C703C80-03C1-4BD2-9C82-2F417F048B60}"/>
              </a:ext>
            </a:extLst>
          </p:cNvPr>
          <p:cNvSpPr txBox="1"/>
          <p:nvPr/>
        </p:nvSpPr>
        <p:spPr>
          <a:xfrm>
            <a:off x="8465439" y="2644051"/>
            <a:ext cx="21812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 lehetne: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192.168.9.160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192.168.9.168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192.168.9.176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192.168.9.184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192.168.9.192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192.168.9.200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192.168.9.208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192.168.9.216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192.168.9.224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192.168.9.232</a:t>
            </a:r>
            <a:endParaRPr lang="hu-HU" sz="2000" dirty="0"/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192.168.9.240 192.168.9.248</a:t>
            </a:r>
            <a:endParaRPr lang="hu-HU" sz="2000" dirty="0"/>
          </a:p>
        </p:txBody>
      </p:sp>
      <p:sp>
        <p:nvSpPr>
          <p:cNvPr id="10" name="Jobb oldali kapcsos zárójel 9">
            <a:extLst>
              <a:ext uri="{FF2B5EF4-FFF2-40B4-BE49-F238E27FC236}">
                <a16:creationId xmlns:a16="http://schemas.microsoft.com/office/drawing/2014/main" id="{F163EDEC-7B98-47AF-92B1-D88995D067A7}"/>
              </a:ext>
            </a:extLst>
          </p:cNvPr>
          <p:cNvSpPr/>
          <p:nvPr/>
        </p:nvSpPr>
        <p:spPr>
          <a:xfrm>
            <a:off x="10020300" y="6305550"/>
            <a:ext cx="200025" cy="37147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4979D84-7108-4EF8-9BF9-C1E98CCD0035}"/>
              </a:ext>
            </a:extLst>
          </p:cNvPr>
          <p:cNvSpPr txBox="1"/>
          <p:nvPr/>
        </p:nvSpPr>
        <p:spPr>
          <a:xfrm>
            <a:off x="10287000" y="6229677"/>
            <a:ext cx="2038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rgbClr val="FF0000"/>
                </a:solidFill>
              </a:rPr>
              <a:t>Nem mert a gyártósor  szórása fogja</a:t>
            </a:r>
          </a:p>
        </p:txBody>
      </p:sp>
      <p:sp>
        <p:nvSpPr>
          <p:cNvPr id="12" name="Jobb oldali kapcsos zárójel 11">
            <a:extLst>
              <a:ext uri="{FF2B5EF4-FFF2-40B4-BE49-F238E27FC236}">
                <a16:creationId xmlns:a16="http://schemas.microsoft.com/office/drawing/2014/main" id="{7C84852D-A33F-4127-91BC-07303175D1AB}"/>
              </a:ext>
            </a:extLst>
          </p:cNvPr>
          <p:cNvSpPr/>
          <p:nvPr/>
        </p:nvSpPr>
        <p:spPr>
          <a:xfrm>
            <a:off x="10110787" y="3037791"/>
            <a:ext cx="109538" cy="1172259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7030A0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A8C094E6-2BAB-4F9E-9DA9-6D4164F99A97}"/>
              </a:ext>
            </a:extLst>
          </p:cNvPr>
          <p:cNvSpPr txBox="1"/>
          <p:nvPr/>
        </p:nvSpPr>
        <p:spPr>
          <a:xfrm>
            <a:off x="10287000" y="3162255"/>
            <a:ext cx="18097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7030A0"/>
                </a:solidFill>
              </a:rPr>
              <a:t>A tervezési osztály bővülése miatt</a:t>
            </a:r>
          </a:p>
        </p:txBody>
      </p:sp>
      <p:sp>
        <p:nvSpPr>
          <p:cNvPr id="14" name="Jobb oldali kapcsos zárójel 13">
            <a:extLst>
              <a:ext uri="{FF2B5EF4-FFF2-40B4-BE49-F238E27FC236}">
                <a16:creationId xmlns:a16="http://schemas.microsoft.com/office/drawing/2014/main" id="{CCABAA26-432E-45BF-8CA0-F487BCAEA653}"/>
              </a:ext>
            </a:extLst>
          </p:cNvPr>
          <p:cNvSpPr/>
          <p:nvPr/>
        </p:nvSpPr>
        <p:spPr>
          <a:xfrm>
            <a:off x="10110787" y="4305300"/>
            <a:ext cx="109538" cy="1924377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13D0117-B3C8-4722-A84E-6325715F938F}"/>
              </a:ext>
            </a:extLst>
          </p:cNvPr>
          <p:cNvSpPr txBox="1"/>
          <p:nvPr/>
        </p:nvSpPr>
        <p:spPr>
          <a:xfrm>
            <a:off x="10286999" y="4928979"/>
            <a:ext cx="1809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00B050"/>
                </a:solidFill>
              </a:rPr>
              <a:t>Ezek közül bármelyik lehet</a:t>
            </a:r>
          </a:p>
        </p:txBody>
      </p:sp>
    </p:spTree>
    <p:extLst>
      <p:ext uri="{BB962C8B-B14F-4D97-AF65-F5344CB8AC3E}">
        <p14:creationId xmlns:p14="http://schemas.microsoft.com/office/powerpoint/2010/main" val="422013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7EB150-5023-4E44-99EA-86565D72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feladat megoldása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3158829-DE69-452F-B5F9-59A3E83F64E4}"/>
              </a:ext>
            </a:extLst>
          </p:cNvPr>
          <p:cNvSpPr txBox="1"/>
          <p:nvPr/>
        </p:nvSpPr>
        <p:spPr>
          <a:xfrm>
            <a:off x="380999" y="3495675"/>
            <a:ext cx="109728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Gyártó sor kiosztott:               </a:t>
            </a:r>
            <a:r>
              <a:rPr lang="hu-H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192.168.8.1 – 192.168.9.56 </a:t>
            </a:r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Tervezési osztály kiosztott:     </a:t>
            </a:r>
            <a:r>
              <a:rPr lang="hu-H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192.168.9.128 – 192.168.9.159 </a:t>
            </a:r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Vezetés kiosztott:                     </a:t>
            </a:r>
            <a:r>
              <a:rPr lang="hu-H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192.168.9.200 – 192.168.9.207 </a:t>
            </a:r>
            <a:r>
              <a:rPr lang="hu-H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522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F7B3A0FB-CF27-4DA5-BAB4-D4067FAA1D23}"/>
              </a:ext>
            </a:extLst>
          </p:cNvPr>
          <p:cNvSpPr txBox="1">
            <a:spLocks/>
          </p:cNvSpPr>
          <p:nvPr/>
        </p:nvSpPr>
        <p:spPr bwMode="black">
          <a:xfrm>
            <a:off x="1040511" y="499908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Alhálózat számítási példa III. megoldása Az </a:t>
            </a:r>
            <a:r>
              <a:rPr lang="hu-HU" dirty="0" err="1"/>
              <a:t>ujbányi</a:t>
            </a:r>
            <a:r>
              <a:rPr lang="hu-HU" dirty="0"/>
              <a:t> </a:t>
            </a:r>
            <a:r>
              <a:rPr lang="hu-HU" dirty="0" err="1"/>
              <a:t>tibi</a:t>
            </a:r>
            <a:r>
              <a:rPr lang="hu-HU" dirty="0"/>
              <a:t> anyagában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3E1A2AC-AB15-43E6-8B96-6B59FB31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84" y="1931918"/>
            <a:ext cx="8696118" cy="4275498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5ED8CEAA-E719-41DD-8AC3-744F5B875160}"/>
              </a:ext>
            </a:extLst>
          </p:cNvPr>
          <p:cNvSpPr/>
          <p:nvPr/>
        </p:nvSpPr>
        <p:spPr>
          <a:xfrm>
            <a:off x="9005710" y="2400984"/>
            <a:ext cx="32367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 jó!</a:t>
            </a:r>
          </a:p>
          <a:p>
            <a:pPr algn="just"/>
            <a:r>
              <a:rPr lang="hu-H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Maszk: 255.255.254.0 CIDR 23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D3F106BB-7B3B-4A6D-8F53-9D7E055DCC39}"/>
              </a:ext>
            </a:extLst>
          </p:cNvPr>
          <p:cNvCxnSpPr/>
          <p:nvPr/>
        </p:nvCxnSpPr>
        <p:spPr>
          <a:xfrm>
            <a:off x="7115175" y="2600325"/>
            <a:ext cx="1752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88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644520-4F35-4B79-81F1-DBA7726D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Gyakorló feladatok a Tibi anyagában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C592AE8-3462-4456-AEBC-8DA981B0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848" y="1993002"/>
            <a:ext cx="8584303" cy="419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4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A99AC7-1198-47A9-B9D3-A335C1D1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636" y="509433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Alhálózat számítási példa III. (gyakorlás)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A91054D-6BDC-43D8-9E88-6A776CA24C1B}"/>
              </a:ext>
            </a:extLst>
          </p:cNvPr>
          <p:cNvSpPr txBox="1"/>
          <p:nvPr/>
        </p:nvSpPr>
        <p:spPr>
          <a:xfrm>
            <a:off x="947736" y="2181225"/>
            <a:ext cx="107965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 gyárban új gyáregységet alakítottak ki. Az új részleg négy osztályból áll: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vezetés  4 gép;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személyzeti-informatikai 7 gép; 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tervezési-fejlesztési 22 gép;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gyártósori 152 gép;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Készítsük el az új részleg IP kiosztását úgy, hogy 10%-os bővítési lehetőséget vegyünk figyelembe.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felhasználható IP tartomány 192.145.12.0 – 192.145.12.255.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Amennyiben ebben nem oldható meg biztonságosan, akkor 192.145.12.0 – 192.145.13.255 tartományt lehet felosztani.</a:t>
            </a:r>
          </a:p>
        </p:txBody>
      </p:sp>
    </p:spTree>
    <p:extLst>
      <p:ext uri="{BB962C8B-B14F-4D97-AF65-F5344CB8AC3E}">
        <p14:creationId xmlns:p14="http://schemas.microsoft.com/office/powerpoint/2010/main" val="1864919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A58AC63-A6AF-4A4B-A885-9756A0B089F8}"/>
              </a:ext>
            </a:extLst>
          </p:cNvPr>
          <p:cNvSpPr txBox="1"/>
          <p:nvPr/>
        </p:nvSpPr>
        <p:spPr>
          <a:xfrm>
            <a:off x="881061" y="2533650"/>
            <a:ext cx="107965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 gyárban új gyáregységet alakítottak ki. Az új részleg három osztályból áll: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vezetés  6 gép;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tervezési-fejlesztési-informatikai 17 gép; 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gyártósori 252 gép;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Készítsük el az új részleg IP kiosztását úgy, hogy 10%-os bővítési lehetőséget vegyünk figyelembe.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felhasználható IP tartomány 192.14.1.0 – 192.14.2.255.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44DFEBD5-A465-4BFF-A6D2-861C8033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636" y="509433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Alhálózat számítási példa III. (gyakorlás)</a:t>
            </a:r>
          </a:p>
        </p:txBody>
      </p:sp>
    </p:spTree>
    <p:extLst>
      <p:ext uri="{BB962C8B-B14F-4D97-AF65-F5344CB8AC3E}">
        <p14:creationId xmlns:p14="http://schemas.microsoft.com/office/powerpoint/2010/main" val="1129641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A99AC7-1198-47A9-B9D3-A335C1D1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486" y="742950"/>
            <a:ext cx="7729728" cy="678978"/>
          </a:xfrm>
        </p:spPr>
        <p:txBody>
          <a:bodyPr>
            <a:normAutofit fontScale="90000"/>
          </a:bodyPr>
          <a:lstStyle/>
          <a:p>
            <a:r>
              <a:rPr lang="hu-HU" dirty="0"/>
              <a:t>Alhálózat számítási példa III. (gyakorlás)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A91054D-6BDC-43D8-9E88-6A776CA24C1B}"/>
              </a:ext>
            </a:extLst>
          </p:cNvPr>
          <p:cNvSpPr txBox="1"/>
          <p:nvPr/>
        </p:nvSpPr>
        <p:spPr>
          <a:xfrm>
            <a:off x="152400" y="1755303"/>
            <a:ext cx="1188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 cégcsoport új szolgáltatásba kezdet, mellyel az IT szektorban szeretne megtelepedni. A tevékenységi körük szoftverfejlesztés és távoli rendszermenedzselésbő áll. Az új részleg négy osztályból áll, ezek létszámadatai:	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 Vezetés  6 fő;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 HR osztály 17 fő; 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 Rendszergazda 42 fő;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 Programozó 352 fő;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Készítsük el az új részleg IP kiosztását úgy, hogy 15%-os bővítési lehetőséget vegyünk figyelembe. Vegyük figyelembe azt is, hogy minden osztálynál 4 főként jár egy hálózati nyomtató is (a bővített létszámra nézve).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felhasználható IP tartomány 19.14.122.0 – 19.14.123.255. Amennyiben a tartomány nem elegendő, akkor egy oktett még bevonható (19.14.122.0 – 19.14.124.255)</a:t>
            </a:r>
          </a:p>
        </p:txBody>
      </p:sp>
    </p:spTree>
    <p:extLst>
      <p:ext uri="{BB962C8B-B14F-4D97-AF65-F5344CB8AC3E}">
        <p14:creationId xmlns:p14="http://schemas.microsoft.com/office/powerpoint/2010/main" val="1960687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644520-4F35-4B79-81F1-DBA7726D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811" y="926592"/>
            <a:ext cx="7729728" cy="1188720"/>
          </a:xfrm>
        </p:spPr>
        <p:txBody>
          <a:bodyPr/>
          <a:lstStyle/>
          <a:p>
            <a:r>
              <a:rPr lang="hu-HU" dirty="0"/>
              <a:t>Feladatok, amiket én adtam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B97A8A53-A6AC-4EC7-9623-33EF1595DDD2}"/>
              </a:ext>
            </a:extLst>
          </p:cNvPr>
          <p:cNvSpPr/>
          <p:nvPr/>
        </p:nvSpPr>
        <p:spPr>
          <a:xfrm>
            <a:off x="472936" y="2115312"/>
            <a:ext cx="10399643" cy="3320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IP/maszk: 192.168.2.123/29 Mi az alhálózat címe?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IP/maszk: 192.171.3.87/255.255.255.192 Mi az alhálózat címe?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Létre tudunk-e hozni olyan alhálózatot, melyben 32 gépet szeretnénk működtetni és a maszk CIDR száma 27?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IP tartomány: 72.0.0.0/8; osszuk fel 8 alhálózatra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IP cím: 154.16.52.16 Alhálózati maszk: 255.255.240.0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Határozd meg a lehetséges alhálózatok számát!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Határozd meg a lehetséges gépek számát!</a:t>
            </a:r>
          </a:p>
        </p:txBody>
      </p:sp>
    </p:spTree>
    <p:extLst>
      <p:ext uri="{BB962C8B-B14F-4D97-AF65-F5344CB8AC3E}">
        <p14:creationId xmlns:p14="http://schemas.microsoft.com/office/powerpoint/2010/main" val="61565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182C4B-5932-42DB-B1B1-7BC33F07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Feladatok, amiket én adtam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44BC9C27-6EFB-49C9-ACC2-7853C003B897}"/>
              </a:ext>
            </a:extLst>
          </p:cNvPr>
          <p:cNvSpPr/>
          <p:nvPr/>
        </p:nvSpPr>
        <p:spPr>
          <a:xfrm>
            <a:off x="1285874" y="2767711"/>
            <a:ext cx="7991475" cy="2958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cím: 192.168.2.45/29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Határozd meg a lehetséges alhálózatok számát!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Határozd meg a lehetséges gépek számát!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cím: 172.17.0.0/16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Oszd fel 4 alhálózatra!</a:t>
            </a:r>
          </a:p>
        </p:txBody>
      </p:sp>
    </p:spTree>
    <p:extLst>
      <p:ext uri="{BB962C8B-B14F-4D97-AF65-F5344CB8AC3E}">
        <p14:creationId xmlns:p14="http://schemas.microsoft.com/office/powerpoint/2010/main" val="653228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BC3AB8-1074-4482-A71C-7606F10F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061" y="2498217"/>
            <a:ext cx="7729728" cy="1188720"/>
          </a:xfrm>
        </p:spPr>
        <p:txBody>
          <a:bodyPr>
            <a:normAutofit/>
          </a:bodyPr>
          <a:lstStyle/>
          <a:p>
            <a:r>
              <a:rPr lang="hu-HU" dirty="0"/>
              <a:t>Köszönöm a figyelmet!</a:t>
            </a:r>
            <a:br>
              <a:rPr lang="hu-HU" dirty="0"/>
            </a:br>
            <a:r>
              <a:rPr lang="hu-HU" dirty="0"/>
              <a:t>Jó tanulást!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94FD65F-124E-4454-ABBA-2EAF9D7FCD09}"/>
              </a:ext>
            </a:extLst>
          </p:cNvPr>
          <p:cNvSpPr txBox="1"/>
          <p:nvPr/>
        </p:nvSpPr>
        <p:spPr>
          <a:xfrm>
            <a:off x="8429625" y="5438775"/>
            <a:ext cx="33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Készítette: Farkas Imre </a:t>
            </a:r>
          </a:p>
          <a:p>
            <a:r>
              <a:rPr lang="hu-HU" dirty="0"/>
              <a:t>elérhetőség: farkasi@uniduna.hu</a:t>
            </a:r>
          </a:p>
        </p:txBody>
      </p:sp>
    </p:spTree>
    <p:extLst>
      <p:ext uri="{BB962C8B-B14F-4D97-AF65-F5344CB8AC3E}">
        <p14:creationId xmlns:p14="http://schemas.microsoft.com/office/powerpoint/2010/main" val="2808186965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1693</Words>
  <Application>Microsoft Office PowerPoint</Application>
  <PresentationFormat>Szélesvásznú</PresentationFormat>
  <Paragraphs>253</Paragraphs>
  <Slides>37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37</vt:i4>
      </vt:variant>
    </vt:vector>
  </HeadingPairs>
  <TitlesOfParts>
    <vt:vector size="41" baseType="lpstr">
      <vt:lpstr>Arial</vt:lpstr>
      <vt:lpstr>Gill Sans MT</vt:lpstr>
      <vt:lpstr>Times New Roman</vt:lpstr>
      <vt:lpstr>Galéria</vt:lpstr>
      <vt:lpstr>PowerPoint-bemutató</vt:lpstr>
      <vt:lpstr>Az Ip cím</vt:lpstr>
      <vt:lpstr>Az ip cím felépítése</vt:lpstr>
      <vt:lpstr>IPv4 címek felépítése</vt:lpstr>
      <vt:lpstr>IPv4 címzési rendszer</vt:lpstr>
      <vt:lpstr>IPv4 osztályok</vt:lpstr>
      <vt:lpstr>IPv4 osztályok</vt:lpstr>
      <vt:lpstr>Alhálózati maszk</vt:lpstr>
      <vt:lpstr>Címzési módok IPv4 esetén</vt:lpstr>
      <vt:lpstr>Számok 8 biten</vt:lpstr>
      <vt:lpstr>Alhálózat számítási példa 1.</vt:lpstr>
      <vt:lpstr>Alhálózat számítási példa 1.</vt:lpstr>
      <vt:lpstr>Alhálózat számítási példa 1. megoldása (A verzió)</vt:lpstr>
      <vt:lpstr>Alhálózat számítási példa 1. megoldása (B verzió)</vt:lpstr>
      <vt:lpstr>Gyakorló feladatok</vt:lpstr>
      <vt:lpstr>Alhálózat számítási példa 1. megoldása Az ujbányi tibi anyagában </vt:lpstr>
      <vt:lpstr>Alhálózat számítási példa 1. megoldása Az ujbányi tibi anyagában </vt:lpstr>
      <vt:lpstr>Alhálózat számítási példa 1. megoldása Az ujbányi tibi anyagában </vt:lpstr>
      <vt:lpstr>Alhálózat számítási példa 1. megoldása Az ujbányi tibi anyagában </vt:lpstr>
      <vt:lpstr>Alhálózat számítási példa 1I.</vt:lpstr>
      <vt:lpstr>PowerPoint-bemutató</vt:lpstr>
      <vt:lpstr>PowerPoint-bemutató</vt:lpstr>
      <vt:lpstr>PowerPoint-bemutató</vt:lpstr>
      <vt:lpstr>PowerPoint-bemutató</vt:lpstr>
      <vt:lpstr>Alhálózat számítási példa I1I.</vt:lpstr>
      <vt:lpstr>Alhálózat számítási példa I1I.</vt:lpstr>
      <vt:lpstr>Alhálózat számítási példa I1I.</vt:lpstr>
      <vt:lpstr>Alhálózat számítási példa I1I.</vt:lpstr>
      <vt:lpstr>A feladat megoldása</vt:lpstr>
      <vt:lpstr>PowerPoint-bemutató</vt:lpstr>
      <vt:lpstr>Gyakorló feladatok a Tibi anyagában</vt:lpstr>
      <vt:lpstr>Alhálózat számítási példa III. (gyakorlás)</vt:lpstr>
      <vt:lpstr>Alhálózat számítási példa III. (gyakorlás)</vt:lpstr>
      <vt:lpstr>Alhálózat számítási példa III. (gyakorlás)</vt:lpstr>
      <vt:lpstr>Feladatok, amiket én adtam</vt:lpstr>
      <vt:lpstr>Feladatok, amiket én adtam</vt:lpstr>
      <vt:lpstr>Köszönöm a figyelmet! Jó tanulást!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Lenovo</dc:creator>
  <cp:lastModifiedBy>Lenovo</cp:lastModifiedBy>
  <cp:revision>18</cp:revision>
  <dcterms:created xsi:type="dcterms:W3CDTF">2020-11-12T19:40:09Z</dcterms:created>
  <dcterms:modified xsi:type="dcterms:W3CDTF">2021-03-24T16:14:10Z</dcterms:modified>
</cp:coreProperties>
</file>